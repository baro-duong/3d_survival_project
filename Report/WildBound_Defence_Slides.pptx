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[0:00 - 0:15]  15 seconds. Do not read the slide out.</a:t>
            </a:r>
          </a:p>
          <a:p>
            <a:r>
              <a:t>Say: 'Good morning. My project is WildBound, a first-person survival game built in Unity 6. I will show you the game running, then explain two of its systems in detail.'</a:t>
            </a:r>
          </a:p>
          <a:p>
            <a:r>
              <a:t>Then move on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[0:15 - 1:00]  45 seconds.</a:t>
            </a:r>
          </a:p>
          <a:p>
            <a:r>
              <a:t>Lead with the one-line premise, then the three statistics, then the metric.</a:t>
            </a:r>
          </a:p>
          <a:p>
            <a:r>
              <a:t>Key line to land: 'The player is not defeated by an enemy. The player is defeated by running out.'</a:t>
            </a:r>
          </a:p>
          <a:p>
            <a:r>
              <a:t>That sentence sets up everything else in the talk, so say it slowly.</a:t>
            </a:r>
          </a:p>
          <a:p>
            <a:r>
              <a:t>Do NOT list features here - the demo does that.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[1:00 - 2:00]  1 minute.</a:t>
            </a:r>
          </a:p>
          <a:p>
            <a:r>
              <a:t>This slide answers 'why is this worth a final year project'. Make the argument, do not apologise for choosing a game.</a:t>
            </a:r>
          </a:p>
          <a:p>
            <a:r>
              <a:t>Argument: a survival game is not a content problem, it is a systems problem. Difficulty is not authored, it emerges from the ratio between how fast resources are consumed and how fast they can be replaced.</a:t>
            </a:r>
          </a:p>
          <a:p>
            <a:r>
              <a:t>Second point: that makes quality measurable - either the economy is balanced or the player can get stuck, and both can be checked.</a:t>
            </a:r>
          </a:p>
          <a:p>
            <a:r>
              <a:t>If short on time this slide can be cut to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[2:00 - 6:00]  4 minutes. THE MOST IMPORTANT PART OF THE TALK.</a:t>
            </a:r>
          </a:p>
          <a:p/>
          <a:p>
            <a:r>
              <a:t>Have the video ALREADY OPEN in another window before you start. Do not search for the file.</a:t>
            </a:r>
          </a:p>
          <a:p>
            <a:r>
              <a:t>Mute notifications. Check the volume before the session begins.</a:t>
            </a:r>
          </a:p>
          <a:p/>
          <a:p>
            <a:r>
              <a:t>Order shown in the video:</a:t>
            </a:r>
          </a:p>
          <a:p>
            <a:r>
              <a:t>  1. Main menu - tutorial gate on the Play button</a:t>
            </a:r>
          </a:p>
          <a:p>
            <a:r>
              <a:t>  2. Gathering by hand: bush and loose rock</a:t>
            </a:r>
          </a:p>
          <a:p>
            <a:r>
              <a:t>  3. Crafting an axe and a pickaxe, via the tool library</a:t>
            </a:r>
          </a:p>
          <a:p>
            <a:r>
              <a:t>  4. Chopping a tree, mining the boulder</a:t>
            </a:r>
          </a:p>
          <a:p>
            <a:r>
              <a:t>  5. Building the fire pit</a:t>
            </a:r>
          </a:p>
          <a:p>
            <a:r>
              <a:t>  6. Full water chain: pot to water, boil, scoop into bottle</a:t>
            </a:r>
          </a:p>
          <a:p>
            <a:r>
              <a:t>  7. Cooking meat, holding F, progress percentage</a:t>
            </a:r>
          </a:p>
          <a:p>
            <a:r>
              <a:t>  8. Combat with an ordinary rabbit, then the alpha rabbit</a:t>
            </a:r>
          </a:p>
          <a:p>
            <a:r>
              <a:t>  9. Death screen with survival time</a:t>
            </a:r>
          </a:p>
          <a:p/>
          <a:p>
            <a:r>
              <a:t>Narrate over the video - do not stand in silence. One sentence per step.</a:t>
            </a:r>
          </a:p>
          <a:p>
            <a:r>
              <a:t>IMPORTANT: the video is edited to remove waiting. Say so once, openly: 'timers for spawning and regrowth run on real-world minutes, so the recording is cut to remove the waiting.' Being upfront prevents it looking like a trick.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[6:00 - 7:00]  1 minute.</a:t>
            </a:r>
          </a:p>
          <a:p>
            <a:r>
              <a:t>Three points only:</a:t>
            </a:r>
          </a:p>
          <a:p>
            <a:r>
              <a:t>  1. Dependency flows one way. Scene objects call into managers; no manager calls back. This is what keeps the code traceable.</a:t>
            </a:r>
          </a:p>
          <a:p>
            <a:r>
              <a:t>  2. Configuration is read by everything and written by nothing. Over fifty balance parameters sit in one asset, so difficulty can be retuned without recompiling.</a:t>
            </a:r>
          </a:p>
          <a:p>
            <a:r>
              <a:t>  3. The engine drives both layers through the script lifecycle - which is why lifecycle ordering matters, and that leads into the next slide but one.</a:t>
            </a:r>
          </a:p>
          <a:p>
            <a:r>
              <a:t>Do not walk through individual classes. If asked, the class diagram is backup slide 12.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[7:00 - 9:00]  2 minutes. This is the slide you WANT to be questioned on.</a:t>
            </a:r>
          </a:p>
          <a:p/>
          <a:p>
            <a:r>
              <a:t>Frame it with the standard vocabulary: sources, converters, drains (Adams and Dormans 2012).</a:t>
            </a:r>
          </a:p>
          <a:p/>
          <a:p>
            <a:r>
              <a:t>Then the two failure modes, which is the real content:</a:t>
            </a:r>
          </a:p>
          <a:p>
            <a:r>
              <a:t>  - Dead end: the player spends finite resources badly and cannot recover. Solved by making the boulder produce rock on a timer regardless of whether the player mines it, and bushes regrow on a timer. Supply can never reach zero permanently.</a:t>
            </a:r>
          </a:p>
          <a:p>
            <a:r>
              <a:t>  - Surplus: once every tool is crafted, further sticks and rocks become worthless and choices stop mattering. Solved by letting sticks and rocks be fed into the fire pit to restore durability.</a:t>
            </a:r>
          </a:p>
          <a:p/>
          <a:p>
            <a:r>
              <a:t>Land this line: 'the second mechanism was not an afterthought - the theory predicts the problem, so the drain was designed in.'</a:t>
            </a:r>
          </a:p>
          <a:p>
            <a:r>
              <a:t>Cost figures are on backup slide 14 if asked.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[9:00 - 11:00]  2 minutes. This slide proves you can debug, which is hard to fake.</a:t>
            </a:r>
          </a:p>
          <a:p/>
          <a:p>
            <a:r>
              <a:t>Tell it as a story, in this order:</a:t>
            </a:r>
          </a:p>
          <a:p>
            <a:r>
              <a:t>  1. Symptom: the Tool Library button did nothing on the first click, but worked afterwards.</a:t>
            </a:r>
          </a:p>
          <a:p>
            <a:r>
              <a:t>  2. Obvious guess: the button's event registration is broken. That guess was wrong.</a:t>
            </a:r>
          </a:p>
          <a:p>
            <a:r>
              <a:t>  3. What actually identified it: a log line placed inside the initialisation method was never printed at all. The absence of output was the evidence.</a:t>
            </a:r>
          </a:p>
          <a:p>
            <a:r>
              <a:t>  4. Real cause: the script deactivated the very object it lived on, so Unity never ran Start() again.</a:t>
            </a:r>
          </a:p>
          <a:p>
            <a:r>
              <a:t>  5. Fix: exploit the guarantee that every Awake() completes before any Start() - move event registration into Awake(), move deactivation into Start().</a:t>
            </a:r>
          </a:p>
          <a:p/>
          <a:p>
            <a:r>
              <a:t>Close with the general lesson: the external symptom pointed at the wrong component entirely.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[11:00 - 13:00]  2 minutes.</a:t>
            </a:r>
          </a:p>
          <a:p>
            <a:r>
              <a:t>Read the table quickly, then spend the time on two things:</a:t>
            </a:r>
          </a:p>
          <a:p>
            <a:r>
              <a:t>  1. The one partial result - creature AI has no pathfinding. Say it plainly before anyone asks.</a:t>
            </a:r>
          </a:p>
          <a:p>
            <a:r>
              <a:t>  2. The three items delivered beyond the original scope, and why that matters: each was added late in the project without redesigning existing work. That is the practical evidence for the extensibility objective, not just a claim.</a:t>
            </a:r>
          </a:p>
          <a:p>
            <a:r>
              <a:t>Concrete example worth saying: adding the pickaxe required one boolean variable and one conditional branch. Everything else already worked.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[13:00 - 14:00]  1 minute. Do not rush this and do not soften it. Examiners reward candour.</a:t>
            </a:r>
          </a:p>
          <a:p/>
          <a:p>
            <a:r>
              <a:t>Give the feature gaps quickly, then dwell on the last point, which is the one that actually matters:</a:t>
            </a:r>
          </a:p>
          <a:p>
            <a:r>
              <a:t>no external players tested the game. Every balance figure therefore reflects the judgement of someone who already knew every mechanism. The numbers may be far too easy or far too hard for a newcomer and there is currently no way to tell.</a:t>
            </a:r>
          </a:p>
          <a:p/>
          <a:p>
            <a:r>
              <a:t>Saying this yourself is much stronger than being caught by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[14:00 - 15:00]  1 minute. Keep it brisk - this is the easiest slide to compress if running late.</a:t>
            </a:r>
          </a:p>
          <a:p/>
          <a:p>
            <a:r>
              <a:t>The ordering principle is the point: improve the quality of what exists before adding volume.</a:t>
            </a:r>
          </a:p>
          <a:p>
            <a:r>
              <a:t>Worth saying about multiplayer: the obstacle is not content, it is architecture. Every manager assumes it exists exactly once, which stops being true with several players - so much of the structure would need redesigning. That limitation was accepted knowingly at the start, not discovered late.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[15:00 - 16:00]  Stop talking here. Roughly 12 minutes remain for questions.</a:t>
            </a:r>
          </a:p>
          <a:p/>
          <a:p>
            <a:r>
              <a:t>Keep the game open in the background in case a live demonstration is requested.</a:t>
            </a:r>
          </a:p>
          <a:p/>
          <a:p>
            <a:r>
              <a:t>Backup slides follow (12, 13, 14) - jump to them if the matching question comes up.</a:t>
            </a:r>
          </a:p>
          <a:p/>
          <a:p>
            <a:r>
              <a:t>Four questions to expect:</a:t>
            </a:r>
          </a:p>
          <a:p>
            <a:r>
              <a:t>  1. 'Explain what this code does' - be ready on the seven excerpts in Section 6.3</a:t>
            </a:r>
          </a:p>
          <a:p>
            <a:r>
              <a:t>  2. 'Why use Singleton if you know its drawbacks?' - backup slide 13</a:t>
            </a:r>
          </a:p>
          <a:p>
            <a:r>
              <a:t>  3. 'How do you guarantee the player cannot get stuck?' - timed rock generation, bush regrowth</a:t>
            </a:r>
          </a:p>
          <a:p>
            <a:r>
              <a:t>  4. 'Where did the balance numbers come from?' - backup slide 14</a:t>
            </a:r>
          </a:p>
          <a:p/>
          <a:p>
            <a:r>
              <a:t>If a question cannot be answered, say so and say what you would do to find out. Do not invent.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Use if asked how crafting decides which recipe applies.</a:t>
            </a:r>
          </a:p>
          <a:p/>
          <a:p>
            <a:r>
              <a:t>The problem: the axe and the fire pit both use sticks and rocks. An algorithm that stops at the first match always returns the axe, even when enough materials for a fire pit are present.</a:t>
            </a:r>
          </a:p>
          <a:p>
            <a:r>
              <a:t>The solution: traverse every recipe and keep the match with the highest total ingredient count. Axe totals 2, fire pit totals 9, so the fire pit wins when it qualifies.</a:t>
            </a:r>
          </a:p>
          <a:p>
            <a:r>
              <a:t>Also: each recipe is tested in both orientations, so the order the player places ingredients does not matter.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Use if challenged on the Singleton pattern.</a:t>
            </a:r>
          </a:p>
          <a:p/>
          <a:p>
            <a:r>
              <a:t>Acknowledge the criticism first - it introduces global state, hides dependencies, and obstructs automated testing. Say this before defending it; it shows the choice was informed.</a:t>
            </a:r>
          </a:p>
          <a:p>
            <a:r>
              <a:t>Then the conditions that make it reasonable here: one player, each system genuinely exists once, and a codebase of 32 files remains comprehensible to one person. Building full dependency injection would have cost more than it returned.</a:t>
            </a:r>
          </a:p>
          <a:p>
            <a:r>
              <a:t>Then concede the limit: those same conditions fail under multiplayer, which is exactly why multiplayer would require architectural redesign.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Use if asked where the numbers came from.</a:t>
            </a:r>
          </a:p>
          <a:p/>
          <a:p>
            <a:r>
              <a:t>The point: the player starts with no gathering tools, so the first tools must be reachable using only the two sources that need no tool - harvesting bushes and picking up loose rock.</a:t>
            </a:r>
          </a:p>
          <a:p>
            <a:r>
              <a:t>Axe costs 2 ingredients and pickaxe costs 3, both reachable in the opening minutes. The fire pit costs 9 and is only realistic once tools exist.</a:t>
            </a:r>
          </a:p>
          <a:p>
            <a:r>
              <a:t>That produces the progression: gather by hand, craft tools, extract at scale, build the fire pit, then gain clean water and cooked food.</a:t>
            </a:r>
          </a:p>
          <a:p>
            <a:r>
              <a:t>Nice detail if it fits: the pot and bottle the player starts with are useless until a fire pit exists, so the starting kit quietly points at the goal without any instruction.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920240"/>
            <a:ext cx="10332720" cy="1828800"/>
          </a:xfrm>
          <a:prstGeom prst="rect">
            <a:avLst/>
          </a:prstGeom>
          <a:noFill/>
        </p:spPr>
        <p:txBody>
          <a:bodyPr wrap="square">
            <a:spAutoFit/>
          </a:bodyPr>
          <a:lstStyle/>
          <a:p>
            <a:pPr>
              <a:defRPr sz="6000" b="1">
                <a:solidFill>
                  <a:srgbClr val="1F4E79"/>
                </a:solidFill>
              </a:defRPr>
            </a:pPr>
            <a:r>
              <a:t>WildBound</a:t>
            </a:r>
          </a:p>
          <a:p>
            <a:pPr>
              <a:defRPr sz="2400">
                <a:solidFill>
                  <a:srgbClr val="555555"/>
                </a:solidFill>
              </a:defRPr>
            </a:pPr>
            <a:r>
              <a:t>Design and Implementation of a First-Person Survival Game in Unity</a:t>
            </a:r>
          </a:p>
        </p:txBody>
      </p:sp>
      <p:sp>
        <p:nvSpPr>
          <p:cNvPr id="3" name="TextBox 2"/>
          <p:cNvSpPr txBox="1"/>
          <p:nvPr/>
        </p:nvSpPr>
        <p:spPr>
          <a:xfrm>
            <a:off x="914400" y="4206240"/>
            <a:ext cx="10332720" cy="1463040"/>
          </a:xfrm>
          <a:prstGeom prst="rect">
            <a:avLst/>
          </a:prstGeom>
          <a:noFill/>
        </p:spPr>
        <p:txBody>
          <a:bodyPr wrap="none">
            <a:spAutoFit/>
          </a:bodyPr>
          <a:lstStyle/>
          <a:p>
            <a:pPr>
              <a:defRPr sz="2200">
                <a:solidFill>
                  <a:srgbClr val="555555"/>
                </a:solidFill>
              </a:defRPr>
            </a:pPr>
            <a:r>
              <a:t>Duong Quoc Bao</a:t>
            </a:r>
          </a:p>
          <a:p>
            <a:pPr>
              <a:defRPr sz="1800">
                <a:solidFill>
                  <a:srgbClr val="555555"/>
                </a:solidFill>
              </a:defRPr>
            </a:pPr>
            <a:r>
              <a:t>GCS230294  -  001362617</a:t>
            </a:r>
          </a:p>
          <a:p>
            <a:pPr>
              <a:defRPr sz="1800">
                <a:solidFill>
                  <a:srgbClr val="555555"/>
                </a:solidFill>
              </a:defRPr>
            </a:pPr>
            <a:r>
              <a:t>BSc (Hons) Computing  -  COMP1682 Final Year 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none">
            <a:spAutoFit/>
          </a:bodyPr>
          <a:lstStyle/>
          <a:p>
            <a:pPr>
              <a:defRPr sz="3400" b="1">
                <a:solidFill>
                  <a:srgbClr val="1F4E79"/>
                </a:solidFill>
              </a:defRPr>
            </a:pPr>
            <a:r>
              <a:t>What is WildBound?</a:t>
            </a:r>
          </a:p>
        </p:txBody>
      </p:sp>
      <p:sp>
        <p:nvSpPr>
          <p:cNvPr id="3" name="TextBox 2"/>
          <p:cNvSpPr txBox="1"/>
          <p:nvPr/>
        </p:nvSpPr>
        <p:spPr>
          <a:xfrm>
            <a:off x="822960" y="1463040"/>
            <a:ext cx="10515600" cy="4754880"/>
          </a:xfrm>
          <a:prstGeom prst="rect">
            <a:avLst/>
          </a:prstGeom>
          <a:noFill/>
        </p:spPr>
        <p:txBody>
          <a:bodyPr wrap="square">
            <a:spAutoFit/>
          </a:bodyPr>
          <a:lstStyle/>
          <a:p>
            <a:pPr>
              <a:spcAft>
                <a:spcPts val="600"/>
              </a:spcAft>
              <a:defRPr sz="2300">
                <a:solidFill>
                  <a:srgbClr val="202020"/>
                </a:solidFill>
              </a:defRPr>
            </a:pPr>
            <a:r>
              <a:t>- A first-person survival game set on an isolated island</a:t>
            </a:r>
          </a:p>
          <a:p>
            <a:pPr>
              <a:spcAft>
                <a:spcPts val="600"/>
              </a:spcAft>
              <a:defRPr sz="2300">
                <a:solidFill>
                  <a:srgbClr val="202020"/>
                </a:solidFill>
              </a:defRPr>
            </a:pPr>
            <a:r>
              <a:t>- The player starts with a cooking pot and an empty bottle - nothing else</a:t>
            </a:r>
          </a:p>
          <a:p>
            <a:pPr>
              <a:spcAft>
                <a:spcPts val="600"/>
              </a:spcAft>
              <a:defRPr sz="2300">
                <a:solidFill>
                  <a:srgbClr val="202020"/>
                </a:solidFill>
              </a:defRPr>
            </a:pPr>
            <a:r>
              <a:t>- Three interdependent statistics: health, hunger, thirst</a:t>
            </a:r>
          </a:p>
          <a:p>
            <a:pPr>
              <a:spcAft>
                <a:spcPts val="600"/>
              </a:spcAft>
              <a:defRPr sz="2300">
                <a:solidFill>
                  <a:srgbClr val="202020"/>
                </a:solidFill>
              </a:defRPr>
            </a:pPr>
            <a:r>
              <a:t>- Gather, craft tools, cook food, boil water, contend with wildlife</a:t>
            </a:r>
          </a:p>
          <a:p>
            <a:pPr>
              <a:spcAft>
                <a:spcPts val="600"/>
              </a:spcAft>
              <a:defRPr sz="2300">
                <a:solidFill>
                  <a:srgbClr val="202020"/>
                </a:solidFill>
              </a:defRPr>
            </a:pPr>
            <a:r>
              <a:t>- No victory condition - the only metric is survival time</a:t>
            </a:r>
          </a:p>
        </p:txBody>
      </p:sp>
      <p:sp>
        <p:nvSpPr>
          <p:cNvPr id="4" name="TextBox 3"/>
          <p:cNvSpPr txBox="1"/>
          <p:nvPr/>
        </p:nvSpPr>
        <p:spPr>
          <a:xfrm>
            <a:off x="1097280" y="4023360"/>
            <a:ext cx="9966960" cy="2194560"/>
          </a:xfrm>
          <a:prstGeom prst="rect">
            <a:avLst/>
          </a:prstGeom>
          <a:noFill/>
        </p:spPr>
        <p:txBody>
          <a:bodyPr wrap="none">
            <a:spAutoFit/>
          </a:bodyPr>
          <a:lstStyle/>
          <a:p>
            <a:pPr algn="ctr">
              <a:defRPr sz="2000" i="1">
                <a:solidFill>
                  <a:srgbClr val="B03030"/>
                </a:solidFill>
              </a:defRPr>
            </a:pPr>
            <a:r>
              <a:t>[ INSERT SCREENSHOT: in-game view with HUD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none">
            <a:spAutoFit/>
          </a:bodyPr>
          <a:lstStyle/>
          <a:p>
            <a:pPr>
              <a:defRPr sz="3400" b="1">
                <a:solidFill>
                  <a:srgbClr val="1F4E79"/>
                </a:solidFill>
              </a:defRPr>
            </a:pPr>
            <a:r>
              <a:t>Why this project</a:t>
            </a:r>
          </a:p>
        </p:txBody>
      </p:sp>
      <p:sp>
        <p:nvSpPr>
          <p:cNvPr id="3" name="TextBox 2"/>
          <p:cNvSpPr txBox="1"/>
          <p:nvPr/>
        </p:nvSpPr>
        <p:spPr>
          <a:xfrm>
            <a:off x="822960" y="1463040"/>
            <a:ext cx="10515600" cy="4754880"/>
          </a:xfrm>
          <a:prstGeom prst="rect">
            <a:avLst/>
          </a:prstGeom>
          <a:noFill/>
        </p:spPr>
        <p:txBody>
          <a:bodyPr wrap="square">
            <a:spAutoFit/>
          </a:bodyPr>
          <a:lstStyle/>
          <a:p>
            <a:pPr>
              <a:spcAft>
                <a:spcPts val="600"/>
              </a:spcAft>
              <a:defRPr sz="2200">
                <a:solidFill>
                  <a:srgbClr val="202020"/>
                </a:solidFill>
              </a:defRPr>
            </a:pPr>
            <a:r>
              <a:t>- A survival game is a systems problem, not a content problem</a:t>
            </a:r>
          </a:p>
          <a:p>
            <a:pPr>
              <a:spcAft>
                <a:spcPts val="600"/>
              </a:spcAft>
              <a:defRPr sz="1800">
                <a:solidFill>
                  <a:srgbClr val="555555"/>
                </a:solidFill>
              </a:defRPr>
            </a:pPr>
            <a:r>
              <a:t>    - Many small systems running continuously and depending on one another</a:t>
            </a:r>
          </a:p>
          <a:p>
            <a:pPr>
              <a:spcAft>
                <a:spcPts val="600"/>
              </a:spcAft>
              <a:defRPr sz="1800">
                <a:solidFill>
                  <a:srgbClr val="555555"/>
                </a:solidFill>
              </a:defRPr>
            </a:pPr>
            <a:r>
              <a:t>    - Difficulty emerges from the numbers, not from authored levels</a:t>
            </a:r>
          </a:p>
          <a:p>
            <a:pPr>
              <a:spcAft>
                <a:spcPts val="600"/>
              </a:spcAft>
              <a:defRPr sz="2200">
                <a:solidFill>
                  <a:srgbClr val="202020"/>
                </a:solidFill>
              </a:defRPr>
            </a:pPr>
            <a:r>
              <a:t>- Quality can be judged on something measurable</a:t>
            </a:r>
          </a:p>
          <a:p>
            <a:pPr>
              <a:spcAft>
                <a:spcPts val="600"/>
              </a:spcAft>
              <a:defRPr sz="1800">
                <a:solidFill>
                  <a:srgbClr val="555555"/>
                </a:solidFill>
              </a:defRPr>
            </a:pPr>
            <a:r>
              <a:t>    - Is the resource economy balanced?</a:t>
            </a:r>
          </a:p>
          <a:p>
            <a:pPr>
              <a:spcAft>
                <a:spcPts val="600"/>
              </a:spcAft>
              <a:defRPr sz="1800">
                <a:solidFill>
                  <a:srgbClr val="555555"/>
                </a:solidFill>
              </a:defRPr>
            </a:pPr>
            <a:r>
              <a:t>    - Can the player ever reach a state from which no recovery is possible?</a:t>
            </a:r>
          </a:p>
          <a:p>
            <a:pPr>
              <a:spcAft>
                <a:spcPts val="600"/>
              </a:spcAft>
              <a:defRPr sz="2200">
                <a:solidFill>
                  <a:srgbClr val="202020"/>
                </a:solidFill>
              </a:defRPr>
            </a:pPr>
            <a:r>
              <a:t>- Focus of the work: designing and implementing interdependent systems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none">
            <a:spAutoFit/>
          </a:bodyPr>
          <a:lstStyle/>
          <a:p>
            <a:pPr>
              <a:defRPr sz="3400" b="1">
                <a:solidFill>
                  <a:srgbClr val="1F4E79"/>
                </a:solidFill>
              </a:defRPr>
            </a:pPr>
            <a:r>
              <a:t>Demonstration</a:t>
            </a:r>
          </a:p>
        </p:txBody>
      </p:sp>
      <p:sp>
        <p:nvSpPr>
          <p:cNvPr id="3" name="TextBox 2"/>
          <p:cNvSpPr txBox="1"/>
          <p:nvPr/>
        </p:nvSpPr>
        <p:spPr>
          <a:xfrm>
            <a:off x="1097280" y="1645920"/>
            <a:ext cx="9966960" cy="4023360"/>
          </a:xfrm>
          <a:prstGeom prst="rect">
            <a:avLst/>
          </a:prstGeom>
          <a:noFill/>
        </p:spPr>
        <p:txBody>
          <a:bodyPr wrap="none">
            <a:spAutoFit/>
          </a:bodyPr>
          <a:lstStyle/>
          <a:p>
            <a:pPr algn="ctr">
              <a:defRPr sz="2000" i="1">
                <a:solidFill>
                  <a:srgbClr val="B03030"/>
                </a:solidFill>
              </a:defRPr>
            </a:pPr>
            <a:r>
              <a:t>[ INSERT DEMO VIDEO - 3 to 4 minutes, pre-edited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none">
            <a:spAutoFit/>
          </a:bodyPr>
          <a:lstStyle/>
          <a:p>
            <a:pPr>
              <a:defRPr sz="3400" b="1">
                <a:solidFill>
                  <a:srgbClr val="1F4E79"/>
                </a:solidFill>
              </a:defRPr>
            </a:pPr>
            <a:r>
              <a:t>System architecture</a:t>
            </a:r>
          </a:p>
        </p:txBody>
      </p:sp>
      <p:sp>
        <p:nvSpPr>
          <p:cNvPr id="3" name="TextBox 2"/>
          <p:cNvSpPr txBox="1"/>
          <p:nvPr/>
        </p:nvSpPr>
        <p:spPr>
          <a:xfrm>
            <a:off x="822960" y="1463040"/>
            <a:ext cx="10515600" cy="4754880"/>
          </a:xfrm>
          <a:prstGeom prst="rect">
            <a:avLst/>
          </a:prstGeom>
          <a:noFill/>
        </p:spPr>
        <p:txBody>
          <a:bodyPr wrap="square">
            <a:spAutoFit/>
          </a:bodyPr>
          <a:lstStyle/>
          <a:p>
            <a:pPr>
              <a:spcAft>
                <a:spcPts val="600"/>
              </a:spcAft>
              <a:defRPr sz="2200">
                <a:solidFill>
                  <a:srgbClr val="202020"/>
                </a:solidFill>
              </a:defRPr>
            </a:pPr>
            <a:r>
              <a:t>- Four layers, with dependency flowing in one direction only</a:t>
            </a:r>
          </a:p>
          <a:p>
            <a:pPr>
              <a:spcAft>
                <a:spcPts val="600"/>
              </a:spcAft>
              <a:defRPr sz="1800">
                <a:solidFill>
                  <a:srgbClr val="555555"/>
                </a:solidFill>
              </a:defRPr>
            </a:pPr>
            <a:r>
              <a:t>    - Unity engine drives both layers through the script lifecycle</a:t>
            </a:r>
          </a:p>
          <a:p>
            <a:pPr>
              <a:spcAft>
                <a:spcPts val="600"/>
              </a:spcAft>
              <a:defRPr sz="1800">
                <a:solidFill>
                  <a:srgbClr val="555555"/>
                </a:solidFill>
              </a:defRPr>
            </a:pPr>
            <a:r>
              <a:t>    - Scene objects call into managers - managers never call back</a:t>
            </a:r>
          </a:p>
          <a:p>
            <a:pPr>
              <a:spcAft>
                <a:spcPts val="600"/>
              </a:spcAft>
              <a:defRPr sz="1800">
                <a:solidFill>
                  <a:srgbClr val="555555"/>
                </a:solidFill>
              </a:defRPr>
            </a:pPr>
            <a:r>
              <a:t>    - Configuration is read by all, modified by none</a:t>
            </a:r>
          </a:p>
          <a:p>
            <a:pPr>
              <a:spcAft>
                <a:spcPts val="600"/>
              </a:spcAft>
              <a:defRPr sz="2200">
                <a:solidFill>
                  <a:srgbClr val="202020"/>
                </a:solidFill>
              </a:defRPr>
            </a:pPr>
            <a:r>
              <a:t>- Over 50 balance parameters held in a single configuration asset</a:t>
            </a:r>
          </a:p>
          <a:p>
            <a:pPr>
              <a:spcAft>
                <a:spcPts val="600"/>
              </a:spcAft>
              <a:defRPr sz="1800">
                <a:solidFill>
                  <a:srgbClr val="555555"/>
                </a:solidFill>
              </a:defRPr>
            </a:pPr>
            <a:r>
              <a:t>    - Difficulty can be retuned without recompiling any code</a:t>
            </a:r>
          </a:p>
        </p:txBody>
      </p:sp>
      <p:sp>
        <p:nvSpPr>
          <p:cNvPr id="4" name="TextBox 3"/>
          <p:cNvSpPr txBox="1"/>
          <p:nvPr/>
        </p:nvSpPr>
        <p:spPr>
          <a:xfrm>
            <a:off x="1097280" y="4114800"/>
            <a:ext cx="9966960" cy="2103120"/>
          </a:xfrm>
          <a:prstGeom prst="rect">
            <a:avLst/>
          </a:prstGeom>
          <a:noFill/>
        </p:spPr>
        <p:txBody>
          <a:bodyPr wrap="none">
            <a:spAutoFit/>
          </a:bodyPr>
          <a:lstStyle/>
          <a:p>
            <a:pPr algn="ctr">
              <a:defRPr sz="2000" i="1">
                <a:solidFill>
                  <a:srgbClr val="B03030"/>
                </a:solidFill>
              </a:defRPr>
            </a:pPr>
            <a:r>
              <a:t>[ INSERT DIAGRAM: 4-layer architecture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none">
            <a:spAutoFit/>
          </a:bodyPr>
          <a:lstStyle/>
          <a:p>
            <a:pPr>
              <a:defRPr sz="3400" b="1">
                <a:solidFill>
                  <a:srgbClr val="1F4E79"/>
                </a:solidFill>
              </a:defRPr>
            </a:pPr>
            <a:r>
              <a:t>The resource economy</a:t>
            </a:r>
          </a:p>
        </p:txBody>
      </p:sp>
      <p:sp>
        <p:nvSpPr>
          <p:cNvPr id="3" name="TextBox 2"/>
          <p:cNvSpPr txBox="1"/>
          <p:nvPr/>
        </p:nvSpPr>
        <p:spPr>
          <a:xfrm>
            <a:off x="822960" y="1463040"/>
            <a:ext cx="10515600" cy="4754880"/>
          </a:xfrm>
          <a:prstGeom prst="rect">
            <a:avLst/>
          </a:prstGeom>
          <a:noFill/>
        </p:spPr>
        <p:txBody>
          <a:bodyPr wrap="square">
            <a:spAutoFit/>
          </a:bodyPr>
          <a:lstStyle/>
          <a:p>
            <a:pPr>
              <a:spcAft>
                <a:spcPts val="600"/>
              </a:spcAft>
              <a:defRPr sz="2100">
                <a:solidFill>
                  <a:srgbClr val="202020"/>
                </a:solidFill>
              </a:defRPr>
            </a:pPr>
            <a:r>
              <a:t>- Designed with the standard vocabulary: sources, converters, drains</a:t>
            </a:r>
          </a:p>
          <a:p>
            <a:pPr>
              <a:spcAft>
                <a:spcPts val="600"/>
              </a:spcAft>
              <a:defRPr sz="2100">
                <a:solidFill>
                  <a:srgbClr val="202020"/>
                </a:solidFill>
              </a:defRPr>
            </a:pPr>
            <a:r>
              <a:t>- Two opposite ways an economy fails - both addressed deliberately</a:t>
            </a:r>
          </a:p>
          <a:p>
            <a:pPr>
              <a:spcAft>
                <a:spcPts val="600"/>
              </a:spcAft>
              <a:defRPr sz="1700">
                <a:solidFill>
                  <a:srgbClr val="555555"/>
                </a:solidFill>
              </a:defRPr>
            </a:pPr>
            <a:r>
              <a:t>    - Dead end: boulder generates rock on a timer independently of the player; bushes regrow</a:t>
            </a:r>
          </a:p>
          <a:p>
            <a:pPr>
              <a:spcAft>
                <a:spcPts val="600"/>
              </a:spcAft>
              <a:defRPr sz="1700">
                <a:solidFill>
                  <a:srgbClr val="555555"/>
                </a:solidFill>
              </a:defRPr>
            </a:pPr>
            <a:r>
              <a:t>    - Surplus: sticks and rocks can be fed into the fire pit to restore durability</a:t>
            </a:r>
          </a:p>
          <a:p>
            <a:pPr>
              <a:spcAft>
                <a:spcPts val="600"/>
              </a:spcAft>
              <a:defRPr sz="2100">
                <a:solidFill>
                  <a:srgbClr val="202020"/>
                </a:solidFill>
              </a:defRPr>
            </a:pPr>
            <a:r>
              <a:t>- Every resource has at least two independent sources</a:t>
            </a:r>
          </a:p>
          <a:p>
            <a:pPr>
              <a:spcAft>
                <a:spcPts val="600"/>
              </a:spcAft>
              <a:defRPr sz="2100">
                <a:solidFill>
                  <a:srgbClr val="202020"/>
                </a:solidFill>
              </a:defRPr>
            </a:pPr>
            <a:r>
              <a:t>- A positive feedback loop: axe unlocks trees, trees yield sticks, sticks enable crafting</a:t>
            </a:r>
          </a:p>
        </p:txBody>
      </p:sp>
      <p:sp>
        <p:nvSpPr>
          <p:cNvPr id="4" name="TextBox 3"/>
          <p:cNvSpPr txBox="1"/>
          <p:nvPr/>
        </p:nvSpPr>
        <p:spPr>
          <a:xfrm>
            <a:off x="1097280" y="4206240"/>
            <a:ext cx="9966960" cy="2011680"/>
          </a:xfrm>
          <a:prstGeom prst="rect">
            <a:avLst/>
          </a:prstGeom>
          <a:noFill/>
        </p:spPr>
        <p:txBody>
          <a:bodyPr wrap="none">
            <a:spAutoFit/>
          </a:bodyPr>
          <a:lstStyle/>
          <a:p>
            <a:pPr algn="ctr">
              <a:defRPr sz="2000" i="1">
                <a:solidFill>
                  <a:srgbClr val="B03030"/>
                </a:solidFill>
              </a:defRPr>
            </a:pPr>
            <a:r>
              <a:t>[ INSERT DIAGRAM: resource life cycle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none">
            <a:spAutoFit/>
          </a:bodyPr>
          <a:lstStyle/>
          <a:p>
            <a:pPr>
              <a:defRPr sz="3400" b="1">
                <a:solidFill>
                  <a:srgbClr val="1F4E79"/>
                </a:solidFill>
              </a:defRPr>
            </a:pPr>
            <a:r>
              <a:t>A technical problem, and how it was found</a:t>
            </a:r>
          </a:p>
        </p:txBody>
      </p:sp>
      <p:sp>
        <p:nvSpPr>
          <p:cNvPr id="3" name="TextBox 2"/>
          <p:cNvSpPr txBox="1"/>
          <p:nvPr/>
        </p:nvSpPr>
        <p:spPr>
          <a:xfrm>
            <a:off x="822960" y="1463040"/>
            <a:ext cx="10515600" cy="4754880"/>
          </a:xfrm>
          <a:prstGeom prst="rect">
            <a:avLst/>
          </a:prstGeom>
          <a:noFill/>
        </p:spPr>
        <p:txBody>
          <a:bodyPr wrap="square">
            <a:spAutoFit/>
          </a:bodyPr>
          <a:lstStyle/>
          <a:p>
            <a:pPr>
              <a:spcAft>
                <a:spcPts val="600"/>
              </a:spcAft>
              <a:defRPr sz="2100">
                <a:solidFill>
                  <a:srgbClr val="202020"/>
                </a:solidFill>
              </a:defRPr>
            </a:pPr>
            <a:r>
              <a:t>- Symptom: the tool library button did nothing on the first click</a:t>
            </a:r>
          </a:p>
          <a:p>
            <a:pPr>
              <a:spcAft>
                <a:spcPts val="600"/>
              </a:spcAft>
              <a:defRPr sz="2100">
                <a:solidFill>
                  <a:srgbClr val="202020"/>
                </a:solidFill>
              </a:defRPr>
            </a:pPr>
            <a:r>
              <a:t>- First assumption - a broken button event - was wrong</a:t>
            </a:r>
          </a:p>
          <a:p>
            <a:pPr>
              <a:spcAft>
                <a:spcPts val="600"/>
              </a:spcAft>
              <a:defRPr sz="2100">
                <a:solidFill>
                  <a:srgbClr val="202020"/>
                </a:solidFill>
              </a:defRPr>
            </a:pPr>
            <a:r>
              <a:t>- What identified it: a log line that was never printed at all</a:t>
            </a:r>
          </a:p>
          <a:p>
            <a:pPr>
              <a:spcAft>
                <a:spcPts val="600"/>
              </a:spcAft>
              <a:defRPr sz="1700">
                <a:solidFill>
                  <a:srgbClr val="555555"/>
                </a:solidFill>
              </a:defRPr>
            </a:pPr>
            <a:r>
              <a:t>    - The absence of output proved the method had never executed</a:t>
            </a:r>
          </a:p>
          <a:p>
            <a:pPr>
              <a:spcAft>
                <a:spcPts val="600"/>
              </a:spcAft>
              <a:defRPr sz="2100">
                <a:solidFill>
                  <a:srgbClr val="202020"/>
                </a:solidFill>
              </a:defRPr>
            </a:pPr>
            <a:r>
              <a:t>- Real cause: the script deactivated the object it was attached to, so Start() never ran again</a:t>
            </a:r>
          </a:p>
          <a:p>
            <a:pPr>
              <a:spcAft>
                <a:spcPts val="600"/>
              </a:spcAft>
              <a:defRPr sz="2100">
                <a:solidFill>
                  <a:srgbClr val="202020"/>
                </a:solidFill>
              </a:defRPr>
            </a:pPr>
            <a:r>
              <a:t>- Fix: rely on Unity's guarantee that all Awake() calls finish before any Start() begins</a:t>
            </a:r>
          </a:p>
          <a:p>
            <a:pPr>
              <a:spcAft>
                <a:spcPts val="600"/>
              </a:spcAft>
              <a:defRPr sz="2100">
                <a:solidFill>
                  <a:srgbClr val="202020"/>
                </a:solidFill>
              </a:defRPr>
            </a:pPr>
            <a:r>
              <a:t>- Lesson: the visible symptom pointed at the wrong component entirely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none">
            <a:spAutoFit/>
          </a:bodyPr>
          <a:lstStyle/>
          <a:p>
            <a:pPr>
              <a:defRPr sz="3400" b="1">
                <a:solidFill>
                  <a:srgbClr val="1F4E79"/>
                </a:solidFill>
              </a:defRPr>
            </a:pPr>
            <a:r>
              <a:t>Results</a:t>
            </a:r>
          </a:p>
        </p:txBody>
      </p:sp>
      <p:graphicFrame>
        <p:nvGraphicFramePr>
          <p:cNvPr id="3" name="Table 2"/>
          <p:cNvGraphicFramePr>
            <a:graphicFrameLocks noGrp="1"/>
          </p:cNvGraphicFramePr>
          <p:nvPr/>
        </p:nvGraphicFramePr>
        <p:xfrm>
          <a:off x="822960" y="1417320"/>
          <a:ext cx="10515600" cy="3200400"/>
        </p:xfrm>
        <a:graphic>
          <a:graphicData uri="http://schemas.openxmlformats.org/drawingml/2006/table">
            <a:tbl>
              <a:tblPr firstRow="1" bandRow="1">
                <a:tableStyleId>{5C22544A-7EE6-4342-B048-85BDC9FD1C3A}</a:tableStyleId>
              </a:tblPr>
              <a:tblGrid>
                <a:gridCol w="5257800"/>
                <a:gridCol w="5257800"/>
              </a:tblGrid>
              <a:tr h="355600">
                <a:tc>
                  <a:txBody>
                    <a:bodyPr/>
                    <a:lstStyle/>
                    <a:p>
                      <a:pPr>
                        <a:defRPr sz="1400" b="1"/>
                      </a:pPr>
                      <a:r>
                        <a:t>Objective</a:t>
                      </a:r>
                    </a:p>
                  </a:txBody>
                  <a:tcPr/>
                </a:tc>
                <a:tc>
                  <a:txBody>
                    <a:bodyPr/>
                    <a:lstStyle/>
                    <a:p>
                      <a:pPr>
                        <a:defRPr sz="1400" b="1"/>
                      </a:pPr>
                      <a:r>
                        <a:t>Outcome</a:t>
                      </a:r>
                    </a:p>
                  </a:txBody>
                  <a:tcPr/>
                </a:tc>
              </a:tr>
              <a:tr h="355600">
                <a:tc>
                  <a:txBody>
                    <a:bodyPr/>
                    <a:lstStyle/>
                    <a:p>
                      <a:pPr>
                        <a:defRPr sz="1400"/>
                      </a:pPr>
                      <a:r>
                        <a:t>Inventory and hotbar, drag-and-drop, stacking</a:t>
                      </a:r>
                    </a:p>
                  </a:txBody>
                  <a:tcPr/>
                </a:tc>
                <a:tc>
                  <a:txBody>
                    <a:bodyPr/>
                    <a:lstStyle/>
                    <a:p>
                      <a:pPr>
                        <a:defRPr sz="1400"/>
                      </a:pPr>
                      <a:r>
                        <a:t>Achieved</a:t>
                      </a:r>
                    </a:p>
                  </a:txBody>
                  <a:tcPr/>
                </a:tc>
              </a:tr>
              <a:tr h="355600">
                <a:tc>
                  <a:txBody>
                    <a:bodyPr/>
                    <a:lstStyle/>
                    <a:p>
                      <a:pPr>
                        <a:defRPr sz="1400"/>
                      </a:pPr>
                      <a:r>
                        <a:t>Crafting with quantified recipes</a:t>
                      </a:r>
                    </a:p>
                  </a:txBody>
                  <a:tcPr/>
                </a:tc>
                <a:tc>
                  <a:txBody>
                    <a:bodyPr/>
                    <a:lstStyle/>
                    <a:p>
                      <a:pPr>
                        <a:defRPr sz="1400"/>
                      </a:pPr>
                      <a:r>
                        <a:t>Achieved</a:t>
                      </a:r>
                    </a:p>
                  </a:txBody>
                  <a:tcPr/>
                </a:tc>
              </a:tr>
              <a:tr h="355600">
                <a:tc>
                  <a:txBody>
                    <a:bodyPr/>
                    <a:lstStyle/>
                    <a:p>
                      <a:pPr>
                        <a:defRPr sz="1400"/>
                      </a:pPr>
                      <a:r>
                        <a:t>Interdependent survival statistics</a:t>
                      </a:r>
                    </a:p>
                  </a:txBody>
                  <a:tcPr/>
                </a:tc>
                <a:tc>
                  <a:txBody>
                    <a:bodyPr/>
                    <a:lstStyle/>
                    <a:p>
                      <a:pPr>
                        <a:defRPr sz="1400"/>
                      </a:pPr>
                      <a:r>
                        <a:t>Achieved</a:t>
                      </a:r>
                    </a:p>
                  </a:txBody>
                  <a:tcPr/>
                </a:tc>
              </a:tr>
              <a:tr h="355600">
                <a:tc>
                  <a:txBody>
                    <a:bodyPr/>
                    <a:lstStyle/>
                    <a:p>
                      <a:pPr>
                        <a:defRPr sz="1400"/>
                      </a:pPr>
                      <a:r>
                        <a:t>Multi-step environmental interaction chain</a:t>
                      </a:r>
                    </a:p>
                  </a:txBody>
                  <a:tcPr/>
                </a:tc>
                <a:tc>
                  <a:txBody>
                    <a:bodyPr/>
                    <a:lstStyle/>
                    <a:p>
                      <a:pPr>
                        <a:defRPr sz="1400"/>
                      </a:pPr>
                      <a:r>
                        <a:t>Achieved</a:t>
                      </a:r>
                    </a:p>
                  </a:txBody>
                  <a:tcPr/>
                </a:tc>
              </a:tr>
              <a:tr h="355600">
                <a:tc>
                  <a:txBody>
                    <a:bodyPr/>
                    <a:lstStyle/>
                    <a:p>
                      <a:pPr>
                        <a:defRPr sz="1400"/>
                      </a:pPr>
                      <a:r>
                        <a:t>Resource gathering with tools and durability</a:t>
                      </a:r>
                    </a:p>
                  </a:txBody>
                  <a:tcPr/>
                </a:tc>
                <a:tc>
                  <a:txBody>
                    <a:bodyPr/>
                    <a:lstStyle/>
                    <a:p>
                      <a:pPr>
                        <a:defRPr sz="1400"/>
                      </a:pPr>
                      <a:r>
                        <a:t>Achieved</a:t>
                      </a:r>
                    </a:p>
                  </a:txBody>
                  <a:tcPr/>
                </a:tc>
              </a:tr>
              <a:tr h="355600">
                <a:tc>
                  <a:txBody>
                    <a:bodyPr/>
                    <a:lstStyle/>
                    <a:p>
                      <a:pPr>
                        <a:defRPr sz="1400"/>
                      </a:pPr>
                      <a:r>
                        <a:t>Creature artificial intelligence</a:t>
                      </a:r>
                    </a:p>
                  </a:txBody>
                  <a:tcPr/>
                </a:tc>
                <a:tc>
                  <a:txBody>
                    <a:bodyPr/>
                    <a:lstStyle/>
                    <a:p>
                      <a:pPr>
                        <a:defRPr sz="1400"/>
                      </a:pPr>
                      <a:r>
                        <a:t>Partial - no pathfinding</a:t>
                      </a:r>
                    </a:p>
                  </a:txBody>
                  <a:tcPr/>
                </a:tc>
              </a:tr>
              <a:tr h="355600">
                <a:tc>
                  <a:txBody>
                    <a:bodyPr/>
                    <a:lstStyle/>
                    <a:p>
                      <a:pPr>
                        <a:defRPr sz="1400"/>
                      </a:pPr>
                      <a:r>
                        <a:t>Closed economy resistant to dead ends</a:t>
                      </a:r>
                    </a:p>
                  </a:txBody>
                  <a:tcPr/>
                </a:tc>
                <a:tc>
                  <a:txBody>
                    <a:bodyPr/>
                    <a:lstStyle/>
                    <a:p>
                      <a:pPr>
                        <a:defRPr sz="1400"/>
                      </a:pPr>
                      <a:r>
                        <a:t>Achieved</a:t>
                      </a:r>
                    </a:p>
                  </a:txBody>
                  <a:tcPr/>
                </a:tc>
              </a:tr>
              <a:tr h="355600">
                <a:tc>
                  <a:txBody>
                    <a:bodyPr/>
                    <a:lstStyle/>
                    <a:p>
                      <a:pPr>
                        <a:defRPr sz="1400"/>
                      </a:pPr>
                      <a:r>
                        <a:t>Complete interface</a:t>
                      </a:r>
                    </a:p>
                  </a:txBody>
                  <a:tcPr/>
                </a:tc>
                <a:tc>
                  <a:txBody>
                    <a:bodyPr/>
                    <a:lstStyle/>
                    <a:p>
                      <a:pPr>
                        <a:defRPr sz="1400"/>
                      </a:pPr>
                      <a:r>
                        <a:t>Achieved</a:t>
                      </a:r>
                    </a:p>
                  </a:txBody>
                  <a:tcPr/>
                </a:tc>
              </a:tr>
            </a:tbl>
          </a:graphicData>
        </a:graphic>
      </p:graphicFrame>
      <p:sp>
        <p:nvSpPr>
          <p:cNvPr id="4" name="TextBox 3"/>
          <p:cNvSpPr txBox="1"/>
          <p:nvPr/>
        </p:nvSpPr>
        <p:spPr>
          <a:xfrm>
            <a:off x="822960" y="4937760"/>
            <a:ext cx="10515600" cy="4754880"/>
          </a:xfrm>
          <a:prstGeom prst="rect">
            <a:avLst/>
          </a:prstGeom>
          <a:noFill/>
        </p:spPr>
        <p:txBody>
          <a:bodyPr wrap="square">
            <a:spAutoFit/>
          </a:bodyPr>
          <a:lstStyle/>
          <a:p>
            <a:pPr>
              <a:spcAft>
                <a:spcPts val="600"/>
              </a:spcAft>
              <a:defRPr sz="1900">
                <a:solidFill>
                  <a:srgbClr val="202020"/>
                </a:solidFill>
              </a:defRPr>
            </a:pPr>
            <a:r>
              <a:t>- Three items delivered beyond the original scope: pickaxe mining, alpha rabbit, tutorial overlay</a:t>
            </a:r>
          </a:p>
          <a:p>
            <a:pPr>
              <a:spcAft>
                <a:spcPts val="600"/>
              </a:spcAft>
              <a:defRPr sz="1900">
                <a:solidFill>
                  <a:srgbClr val="202020"/>
                </a:solidFill>
              </a:defRPr>
            </a:pPr>
            <a:r>
              <a:t>- 32 script files  -  approximately 3,200 lines  -  30 commits over seven months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none">
            <a:spAutoFit/>
          </a:bodyPr>
          <a:lstStyle/>
          <a:p>
            <a:pPr>
              <a:defRPr sz="3400" b="1">
                <a:solidFill>
                  <a:srgbClr val="1F4E79"/>
                </a:solidFill>
              </a:defRPr>
            </a:pPr>
            <a:r>
              <a:t>Limitations</a:t>
            </a:r>
          </a:p>
        </p:txBody>
      </p:sp>
      <p:sp>
        <p:nvSpPr>
          <p:cNvPr id="3" name="TextBox 2"/>
          <p:cNvSpPr txBox="1"/>
          <p:nvPr/>
        </p:nvSpPr>
        <p:spPr>
          <a:xfrm>
            <a:off x="822960" y="1463040"/>
            <a:ext cx="10515600" cy="4754880"/>
          </a:xfrm>
          <a:prstGeom prst="rect">
            <a:avLst/>
          </a:prstGeom>
          <a:noFill/>
        </p:spPr>
        <p:txBody>
          <a:bodyPr wrap="square">
            <a:spAutoFit/>
          </a:bodyPr>
          <a:lstStyle/>
          <a:p>
            <a:pPr>
              <a:spcAft>
                <a:spcPts val="600"/>
              </a:spcAft>
              <a:defRPr sz="2100">
                <a:solidFill>
                  <a:srgbClr val="202020"/>
                </a:solidFill>
              </a:defRPr>
            </a:pPr>
            <a:r>
              <a:t>- No save or load functionality - every session starts afresh</a:t>
            </a:r>
          </a:p>
          <a:p>
            <a:pPr>
              <a:spcAft>
                <a:spcPts val="600"/>
              </a:spcAft>
              <a:defRPr sz="2100">
                <a:solidFill>
                  <a:srgbClr val="202020"/>
                </a:solidFill>
              </a:defRPr>
            </a:pPr>
            <a:r>
              <a:t>- No day-night cycle and no weather system - both removed when scope was narrowed</a:t>
            </a:r>
          </a:p>
          <a:p>
            <a:pPr>
              <a:spcAft>
                <a:spcPts val="600"/>
              </a:spcAft>
              <a:defRPr sz="2100">
                <a:solidFill>
                  <a:srgbClr val="202020"/>
                </a:solidFill>
              </a:defRPr>
            </a:pPr>
            <a:r>
              <a:t>- No audio of any kind</a:t>
            </a:r>
          </a:p>
          <a:p>
            <a:pPr>
              <a:spcAft>
                <a:spcPts val="600"/>
              </a:spcAft>
              <a:defRPr sz="2100">
                <a:solidFill>
                  <a:srgbClr val="202020"/>
                </a:solidFill>
              </a:defRPr>
            </a:pPr>
            <a:r>
              <a:t>- Creature AI moves in straight lines and can be blocked by obstacles</a:t>
            </a:r>
          </a:p>
          <a:p>
            <a:pPr>
              <a:spcAft>
                <a:spcPts val="600"/>
              </a:spcAft>
              <a:defRPr sz="2100">
                <a:solidFill>
                  <a:srgbClr val="202020"/>
                </a:solidFill>
              </a:defRPr>
            </a:pPr>
            <a:r>
              <a:t>- Visual style is not fully coherent - assets come from different authors</a:t>
            </a:r>
          </a:p>
          <a:p>
            <a:pPr>
              <a:spcAft>
                <a:spcPts val="600"/>
              </a:spcAft>
              <a:defRPr sz="2100">
                <a:solidFill>
                  <a:srgbClr val="202020"/>
                </a:solidFill>
              </a:defRPr>
            </a:pPr>
            <a:r>
              <a:t>- No external playtesting: all balance figures reflect one person's judgement</a:t>
            </a:r>
          </a:p>
          <a:p>
            <a:pPr>
              <a:spcAft>
                <a:spcPts val="600"/>
              </a:spcAft>
              <a:defRPr sz="1700">
                <a:solidFill>
                  <a:srgbClr val="555555"/>
                </a:solidFill>
              </a:defRPr>
            </a:pPr>
            <a:r>
              <a:t>    - That person already knew every mechanism in advance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none">
            <a:spAutoFit/>
          </a:bodyPr>
          <a:lstStyle/>
          <a:p>
            <a:pPr>
              <a:defRPr sz="3400" b="1">
                <a:solidFill>
                  <a:srgbClr val="1F4E79"/>
                </a:solidFill>
              </a:defRPr>
            </a:pPr>
            <a:r>
              <a:t>Further development</a:t>
            </a:r>
          </a:p>
        </p:txBody>
      </p:sp>
      <p:sp>
        <p:nvSpPr>
          <p:cNvPr id="3" name="TextBox 2"/>
          <p:cNvSpPr txBox="1"/>
          <p:nvPr/>
        </p:nvSpPr>
        <p:spPr>
          <a:xfrm>
            <a:off x="822960" y="1463040"/>
            <a:ext cx="10515600" cy="4754880"/>
          </a:xfrm>
          <a:prstGeom prst="rect">
            <a:avLst/>
          </a:prstGeom>
          <a:noFill/>
        </p:spPr>
        <p:txBody>
          <a:bodyPr wrap="square">
            <a:spAutoFit/>
          </a:bodyPr>
          <a:lstStyle/>
          <a:p>
            <a:pPr>
              <a:spcAft>
                <a:spcPts val="600"/>
              </a:spcAft>
              <a:defRPr sz="2200">
                <a:solidFill>
                  <a:srgbClr val="202020"/>
                </a:solidFill>
              </a:defRPr>
            </a:pPr>
            <a:r>
              <a:t>- Short term - finish what exists</a:t>
            </a:r>
          </a:p>
          <a:p>
            <a:pPr>
              <a:spcAft>
                <a:spcPts val="600"/>
              </a:spcAft>
              <a:defRPr sz="1800">
                <a:solidFill>
                  <a:srgbClr val="555555"/>
                </a:solidFill>
              </a:defRPr>
            </a:pPr>
            <a:r>
              <a:t>    - External playtesting, save and load, audio, pathfinding</a:t>
            </a:r>
          </a:p>
          <a:p>
            <a:pPr>
              <a:spcAft>
                <a:spcPts val="600"/>
              </a:spcAft>
              <a:defRPr sz="2200">
                <a:solidFill>
                  <a:srgbClr val="202020"/>
                </a:solidFill>
              </a:defRPr>
            </a:pPr>
            <a:r>
              <a:t>- Medium term - content that was cut</a:t>
            </a:r>
          </a:p>
          <a:p>
            <a:pPr>
              <a:spcAft>
                <a:spcPts val="600"/>
              </a:spcAft>
              <a:defRPr sz="1800">
                <a:solidFill>
                  <a:srgbClr val="555555"/>
                </a:solidFill>
              </a:defRPr>
            </a:pPr>
            <a:r>
              <a:t>    - Day-night cycle, weather, crop cultivation, shelter building</a:t>
            </a:r>
          </a:p>
          <a:p>
            <a:pPr>
              <a:spcAft>
                <a:spcPts val="600"/>
              </a:spcAft>
              <a:defRPr sz="2200">
                <a:solidFill>
                  <a:srgbClr val="202020"/>
                </a:solidFill>
              </a:defRPr>
            </a:pPr>
            <a:r>
              <a:t>- Long term</a:t>
            </a:r>
          </a:p>
          <a:p>
            <a:pPr>
              <a:spcAft>
                <a:spcPts val="600"/>
              </a:spcAft>
              <a:defRPr sz="1800">
                <a:solidFill>
                  <a:srgbClr val="555555"/>
                </a:solidFill>
              </a:defRPr>
            </a:pPr>
            <a:r>
              <a:t>    - Multiplayer - blocked by architecture, not by content</a:t>
            </a:r>
          </a:p>
          <a:p>
            <a:pPr>
              <a:spcAft>
                <a:spcPts val="600"/>
              </a:spcAft>
              <a:defRPr sz="1800">
                <a:solidFill>
                  <a:srgbClr val="555555"/>
                </a:solidFill>
              </a:defRPr>
            </a:pPr>
            <a:r>
              <a:t>    - Commercial release - coherent art, performance, asset licensing review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60320"/>
            <a:ext cx="10332720" cy="1645920"/>
          </a:xfrm>
          <a:prstGeom prst="rect">
            <a:avLst/>
          </a:prstGeom>
          <a:noFill/>
        </p:spPr>
        <p:txBody>
          <a:bodyPr wrap="none">
            <a:spAutoFit/>
          </a:bodyPr>
          <a:lstStyle/>
          <a:p>
            <a:pPr>
              <a:defRPr sz="4800" b="1">
                <a:solidFill>
                  <a:srgbClr val="1F4E79"/>
                </a:solidFill>
              </a:defRPr>
            </a:pPr>
            <a:r>
              <a:t>Thank you</a:t>
            </a:r>
          </a:p>
          <a:p>
            <a:pPr>
              <a:defRPr sz="2600">
                <a:solidFill>
                  <a:srgbClr val="555555"/>
                </a:solidFill>
              </a:defRPr>
            </a:pPr>
            <a:r>
              <a:t>Questions welcome</a:t>
            </a:r>
          </a:p>
          <a:p>
            <a:pPr>
              <a:defRPr sz="1800">
                <a:solidFill>
                  <a:srgbClr val="555555"/>
                </a:solidFill>
              </a:defRPr>
            </a:pPr>
            <a:r>
              <a:t>github.com/Baro-Duong/3D_Survival_Project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none">
            <a:spAutoFit/>
          </a:bodyPr>
          <a:lstStyle/>
          <a:p>
            <a:pPr>
              <a:defRPr sz="3400" b="1">
                <a:solidFill>
                  <a:srgbClr val="1F4E79"/>
                </a:solidFill>
              </a:defRPr>
            </a:pPr>
            <a:r>
              <a:t>Backup - Recipe matching</a:t>
            </a:r>
          </a:p>
        </p:txBody>
      </p:sp>
      <p:sp>
        <p:nvSpPr>
          <p:cNvPr id="3" name="TextBox 2"/>
          <p:cNvSpPr txBox="1"/>
          <p:nvPr/>
        </p:nvSpPr>
        <p:spPr>
          <a:xfrm>
            <a:off x="822960" y="1645920"/>
            <a:ext cx="10515600" cy="4754880"/>
          </a:xfrm>
          <a:prstGeom prst="rect">
            <a:avLst/>
          </a:prstGeom>
          <a:noFill/>
        </p:spPr>
        <p:txBody>
          <a:bodyPr wrap="square">
            <a:spAutoFit/>
          </a:bodyPr>
          <a:lstStyle/>
          <a:p>
            <a:pPr>
              <a:spcAft>
                <a:spcPts val="600"/>
              </a:spcAft>
              <a:defRPr sz="2100">
                <a:solidFill>
                  <a:srgbClr val="202020"/>
                </a:solidFill>
              </a:defRPr>
            </a:pPr>
            <a:r>
              <a:t>- Problem: axe (1 stick + 1 rock) and fire pit (5 sticks + 4 rocks) share the same ingredients</a:t>
            </a:r>
          </a:p>
          <a:p>
            <a:pPr>
              <a:spcAft>
                <a:spcPts val="600"/>
              </a:spcAft>
              <a:defRPr sz="2100">
                <a:solidFill>
                  <a:srgbClr val="202020"/>
                </a:solidFill>
              </a:defRPr>
            </a:pPr>
            <a:r>
              <a:t>- First-match-wins always returned the axe - a real defect during development</a:t>
            </a:r>
          </a:p>
          <a:p>
            <a:pPr>
              <a:spcAft>
                <a:spcPts val="600"/>
              </a:spcAft>
              <a:defRPr sz="2100">
                <a:solidFill>
                  <a:srgbClr val="202020"/>
                </a:solidFill>
              </a:defRPr>
            </a:pPr>
            <a:r>
              <a:t>- Solution: traverse all recipes, keep the match with the highest total ingredient count</a:t>
            </a:r>
          </a:p>
          <a:p>
            <a:pPr>
              <a:spcAft>
                <a:spcPts val="600"/>
              </a:spcAft>
              <a:defRPr sz="2100">
                <a:solidFill>
                  <a:srgbClr val="202020"/>
                </a:solidFill>
              </a:defRPr>
            </a:pPr>
            <a:r>
              <a:t>- Each recipe is tested in both orientations, so placement order does not matter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none">
            <a:spAutoFit/>
          </a:bodyPr>
          <a:lstStyle/>
          <a:p>
            <a:pPr>
              <a:defRPr sz="3400" b="1">
                <a:solidFill>
                  <a:srgbClr val="1F4E79"/>
                </a:solidFill>
              </a:defRPr>
            </a:pPr>
            <a:r>
              <a:t>Backup - Why Singleton</a:t>
            </a:r>
          </a:p>
        </p:txBody>
      </p:sp>
      <p:sp>
        <p:nvSpPr>
          <p:cNvPr id="3" name="TextBox 2"/>
          <p:cNvSpPr txBox="1"/>
          <p:nvPr/>
        </p:nvSpPr>
        <p:spPr>
          <a:xfrm>
            <a:off x="822960" y="1645920"/>
            <a:ext cx="10515600" cy="4754880"/>
          </a:xfrm>
          <a:prstGeom prst="rect">
            <a:avLst/>
          </a:prstGeom>
          <a:noFill/>
        </p:spPr>
        <p:txBody>
          <a:bodyPr wrap="square">
            <a:spAutoFit/>
          </a:bodyPr>
          <a:lstStyle/>
          <a:p>
            <a:pPr>
              <a:spcAft>
                <a:spcPts val="600"/>
              </a:spcAft>
              <a:defRPr sz="2100">
                <a:solidFill>
                  <a:srgbClr val="202020"/>
                </a:solidFill>
              </a:defRPr>
            </a:pPr>
            <a:r>
              <a:t>- Known drawbacks: global state, hidden dependencies, obstructs automated testing</a:t>
            </a:r>
          </a:p>
          <a:p>
            <a:pPr>
              <a:spcAft>
                <a:spcPts val="600"/>
              </a:spcAft>
              <a:defRPr sz="2100">
                <a:solidFill>
                  <a:srgbClr val="202020"/>
                </a:solidFill>
              </a:defRPr>
            </a:pPr>
            <a:r>
              <a:t>- Why it still suits this project</a:t>
            </a:r>
          </a:p>
          <a:p>
            <a:pPr>
              <a:spcAft>
                <a:spcPts val="600"/>
              </a:spcAft>
              <a:defRPr sz="1700">
                <a:solidFill>
                  <a:srgbClr val="555555"/>
                </a:solidFill>
              </a:defRPr>
            </a:pPr>
            <a:r>
              <a:t>    - Single player - each system genuinely exists exactly once</a:t>
            </a:r>
          </a:p>
          <a:p>
            <a:pPr>
              <a:spcAft>
                <a:spcPts val="600"/>
              </a:spcAft>
              <a:defRPr sz="1700">
                <a:solidFill>
                  <a:srgbClr val="555555"/>
                </a:solidFill>
              </a:defRPr>
            </a:pPr>
            <a:r>
              <a:t>    - 32 files remain comprehensible to one developer</a:t>
            </a:r>
          </a:p>
          <a:p>
            <a:pPr>
              <a:spcAft>
                <a:spcPts val="600"/>
              </a:spcAft>
              <a:defRPr sz="1700">
                <a:solidFill>
                  <a:srgbClr val="555555"/>
                </a:solidFill>
              </a:defRPr>
            </a:pPr>
            <a:r>
              <a:t>    - Dependency injection would have cost more than it returned</a:t>
            </a:r>
          </a:p>
          <a:p>
            <a:pPr>
              <a:spcAft>
                <a:spcPts val="600"/>
              </a:spcAft>
              <a:defRPr sz="2100">
                <a:solidFill>
                  <a:srgbClr val="202020"/>
                </a:solidFill>
              </a:defRPr>
            </a:pPr>
            <a:r>
              <a:t>- Where it breaks: multiplayer invalidates the single-instance assumption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none">
            <a:spAutoFit/>
          </a:bodyPr>
          <a:lstStyle/>
          <a:p>
            <a:pPr>
              <a:defRPr sz="3400" b="1">
                <a:solidFill>
                  <a:srgbClr val="1F4E79"/>
                </a:solidFill>
              </a:defRPr>
            </a:pPr>
            <a:r>
              <a:t>Backup - Balance figures</a:t>
            </a:r>
          </a:p>
        </p:txBody>
      </p:sp>
      <p:graphicFrame>
        <p:nvGraphicFramePr>
          <p:cNvPr id="3" name="Table 2"/>
          <p:cNvGraphicFramePr>
            <a:graphicFrameLocks noGrp="1"/>
          </p:cNvGraphicFramePr>
          <p:nvPr/>
        </p:nvGraphicFramePr>
        <p:xfrm>
          <a:off x="822960" y="1645920"/>
          <a:ext cx="10515600" cy="1737360"/>
        </p:xfrm>
        <a:graphic>
          <a:graphicData uri="http://schemas.openxmlformats.org/drawingml/2006/table">
            <a:tbl>
              <a:tblPr firstRow="1" bandRow="1">
                <a:tableStyleId>{5C22544A-7EE6-4342-B048-85BDC9FD1C3A}</a:tableStyleId>
              </a:tblPr>
              <a:tblGrid>
                <a:gridCol w="2628900"/>
                <a:gridCol w="2628900"/>
                <a:gridCol w="2628900"/>
                <a:gridCol w="2628900"/>
              </a:tblGrid>
              <a:tr h="434340">
                <a:tc>
                  <a:txBody>
                    <a:bodyPr/>
                    <a:lstStyle/>
                    <a:p>
                      <a:pPr>
                        <a:defRPr sz="1700" b="1"/>
                      </a:pPr>
                      <a:r>
                        <a:t>Recipe</a:t>
                      </a:r>
                    </a:p>
                  </a:txBody>
                  <a:tcPr/>
                </a:tc>
                <a:tc>
                  <a:txBody>
                    <a:bodyPr/>
                    <a:lstStyle/>
                    <a:p>
                      <a:pPr>
                        <a:defRPr sz="1700" b="1"/>
                      </a:pPr>
                      <a:r>
                        <a:t>Sticks</a:t>
                      </a:r>
                    </a:p>
                  </a:txBody>
                  <a:tcPr/>
                </a:tc>
                <a:tc>
                  <a:txBody>
                    <a:bodyPr/>
                    <a:lstStyle/>
                    <a:p>
                      <a:pPr>
                        <a:defRPr sz="1700" b="1"/>
                      </a:pPr>
                      <a:r>
                        <a:t>Rocks</a:t>
                      </a:r>
                    </a:p>
                  </a:txBody>
                  <a:tcPr/>
                </a:tc>
                <a:tc>
                  <a:txBody>
                    <a:bodyPr/>
                    <a:lstStyle/>
                    <a:p>
                      <a:pPr>
                        <a:defRPr sz="1700" b="1"/>
                      </a:pPr>
                      <a:r>
                        <a:t>Total</a:t>
                      </a:r>
                    </a:p>
                  </a:txBody>
                  <a:tcPr/>
                </a:tc>
              </a:tr>
              <a:tr h="434340">
                <a:tc>
                  <a:txBody>
                    <a:bodyPr/>
                    <a:lstStyle/>
                    <a:p>
                      <a:pPr>
                        <a:defRPr sz="1700"/>
                      </a:pPr>
                      <a:r>
                        <a:t>Axe</a:t>
                      </a:r>
                    </a:p>
                  </a:txBody>
                  <a:tcPr/>
                </a:tc>
                <a:tc>
                  <a:txBody>
                    <a:bodyPr/>
                    <a:lstStyle/>
                    <a:p>
                      <a:pPr>
                        <a:defRPr sz="1700"/>
                      </a:pPr>
                      <a:r>
                        <a:t>1</a:t>
                      </a:r>
                    </a:p>
                  </a:txBody>
                  <a:tcPr/>
                </a:tc>
                <a:tc>
                  <a:txBody>
                    <a:bodyPr/>
                    <a:lstStyle/>
                    <a:p>
                      <a:pPr>
                        <a:defRPr sz="1700"/>
                      </a:pPr>
                      <a:r>
                        <a:t>1</a:t>
                      </a:r>
                    </a:p>
                  </a:txBody>
                  <a:tcPr/>
                </a:tc>
                <a:tc>
                  <a:txBody>
                    <a:bodyPr/>
                    <a:lstStyle/>
                    <a:p>
                      <a:pPr>
                        <a:defRPr sz="1700"/>
                      </a:pPr>
                      <a:r>
                        <a:t>2</a:t>
                      </a:r>
                    </a:p>
                  </a:txBody>
                  <a:tcPr/>
                </a:tc>
              </a:tr>
              <a:tr h="434340">
                <a:tc>
                  <a:txBody>
                    <a:bodyPr/>
                    <a:lstStyle/>
                    <a:p>
                      <a:pPr>
                        <a:defRPr sz="1700"/>
                      </a:pPr>
                      <a:r>
                        <a:t>Pickaxe</a:t>
                      </a:r>
                    </a:p>
                  </a:txBody>
                  <a:tcPr/>
                </a:tc>
                <a:tc>
                  <a:txBody>
                    <a:bodyPr/>
                    <a:lstStyle/>
                    <a:p>
                      <a:pPr>
                        <a:defRPr sz="1700"/>
                      </a:pPr>
                      <a:r>
                        <a:t>1</a:t>
                      </a:r>
                    </a:p>
                  </a:txBody>
                  <a:tcPr/>
                </a:tc>
                <a:tc>
                  <a:txBody>
                    <a:bodyPr/>
                    <a:lstStyle/>
                    <a:p>
                      <a:pPr>
                        <a:defRPr sz="1700"/>
                      </a:pPr>
                      <a:r>
                        <a:t>2</a:t>
                      </a:r>
                    </a:p>
                  </a:txBody>
                  <a:tcPr/>
                </a:tc>
                <a:tc>
                  <a:txBody>
                    <a:bodyPr/>
                    <a:lstStyle/>
                    <a:p>
                      <a:pPr>
                        <a:defRPr sz="1700"/>
                      </a:pPr>
                      <a:r>
                        <a:t>3</a:t>
                      </a:r>
                    </a:p>
                  </a:txBody>
                  <a:tcPr/>
                </a:tc>
              </a:tr>
              <a:tr h="434340">
                <a:tc>
                  <a:txBody>
                    <a:bodyPr/>
                    <a:lstStyle/>
                    <a:p>
                      <a:pPr>
                        <a:defRPr sz="1700"/>
                      </a:pPr>
                      <a:r>
                        <a:t>Fire pit</a:t>
                      </a:r>
                    </a:p>
                  </a:txBody>
                  <a:tcPr/>
                </a:tc>
                <a:tc>
                  <a:txBody>
                    <a:bodyPr/>
                    <a:lstStyle/>
                    <a:p>
                      <a:pPr>
                        <a:defRPr sz="1700"/>
                      </a:pPr>
                      <a:r>
                        <a:t>5</a:t>
                      </a:r>
                    </a:p>
                  </a:txBody>
                  <a:tcPr/>
                </a:tc>
                <a:tc>
                  <a:txBody>
                    <a:bodyPr/>
                    <a:lstStyle/>
                    <a:p>
                      <a:pPr>
                        <a:defRPr sz="1700"/>
                      </a:pPr>
                      <a:r>
                        <a:t>4</a:t>
                      </a:r>
                    </a:p>
                  </a:txBody>
                  <a:tcPr/>
                </a:tc>
                <a:tc>
                  <a:txBody>
                    <a:bodyPr/>
                    <a:lstStyle/>
                    <a:p>
                      <a:pPr>
                        <a:defRPr sz="1700"/>
                      </a:pPr>
                      <a:r>
                        <a:t>9</a:t>
                      </a:r>
                    </a:p>
                  </a:txBody>
                  <a:tcPr/>
                </a:tc>
              </a:tr>
            </a:tbl>
          </a:graphicData>
        </a:graphic>
      </p:graphicFrame>
      <p:sp>
        <p:nvSpPr>
          <p:cNvPr id="4" name="TextBox 3"/>
          <p:cNvSpPr txBox="1"/>
          <p:nvPr/>
        </p:nvSpPr>
        <p:spPr>
          <a:xfrm>
            <a:off x="822960" y="3840480"/>
            <a:ext cx="10515600" cy="4754880"/>
          </a:xfrm>
          <a:prstGeom prst="rect">
            <a:avLst/>
          </a:prstGeom>
          <a:noFill/>
        </p:spPr>
        <p:txBody>
          <a:bodyPr wrap="square">
            <a:spAutoFit/>
          </a:bodyPr>
          <a:lstStyle/>
          <a:p>
            <a:pPr>
              <a:spcAft>
                <a:spcPts val="600"/>
              </a:spcAft>
              <a:defRPr sz="2000">
                <a:solidFill>
                  <a:srgbClr val="202020"/>
                </a:solidFill>
              </a:defRPr>
            </a:pPr>
            <a:r>
              <a:t>- First tools reachable using only the two sources that need no tool</a:t>
            </a:r>
          </a:p>
          <a:p>
            <a:pPr>
              <a:spcAft>
                <a:spcPts val="600"/>
              </a:spcAft>
              <a:defRPr sz="2000">
                <a:solidFill>
                  <a:srgbClr val="202020"/>
                </a:solidFill>
              </a:defRPr>
            </a:pPr>
            <a:r>
              <a:t>- Fire pit is only realistic once tools exist - this creates the progression</a:t>
            </a:r>
          </a:p>
          <a:p>
            <a:pPr>
              <a:spcAft>
                <a:spcPts val="600"/>
              </a:spcAft>
              <a:defRPr sz="2000">
                <a:solidFill>
                  <a:srgbClr val="202020"/>
                </a:solidFill>
              </a:defRPr>
            </a:pPr>
            <a:r>
              <a:t>- Starting pot and bottle are useless until a fire pit exists, pointing at the goal implicitly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